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Deposit</c:v>
                  </c:pt>
                  <c:pt idx="1">
                    <c:v>Transfer</c:v>
                  </c:pt>
                  <c:pt idx="2">
                    <c:v>Withdrawal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19.96</c:v>
                </c:pt>
                <c:pt idx="1">
                  <c:v>19.85</c:v>
                </c:pt>
                <c:pt idx="2">
                  <c:v>19.96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Failure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 (%)</c:v>
                </c:pt>
              </c:strCache>
            </c:strRef>
          </c:tx>
          <c:spPr>
            <a:solidFill>
              <a:srgbClr val="D64550"/>
            </a:solidFill>
            <a:ln w="3175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5-14</c:v>
                  </c:pt>
                  <c:pt idx="1">
                    <c:v>15-24</c:v>
                  </c:pt>
                  <c:pt idx="2">
                    <c:v>25-34</c:v>
                  </c:pt>
                  <c:pt idx="3">
                    <c:v>35-44</c:v>
                  </c:pt>
                  <c:pt idx="4">
                    <c:v>45-54</c:v>
                  </c:pt>
                  <c:pt idx="5">
                    <c:v>55-64</c:v>
                  </c:pt>
                  <c:pt idx="6">
                    <c:v>65-74</c:v>
                  </c:pt>
                  <c:pt idx="7">
                    <c:v>75-84</c:v>
                  </c:pt>
                  <c:pt idx="8">
                    <c:v>85-94</c:v>
                  </c:pt>
                  <c:pt idx="9">
                    <c:v>95-104</c:v>
                  </c:pt>
                  <c:pt idx="10">
                    <c:v>105-114</c:v>
                  </c:pt>
                  <c:pt idx="11">
                    <c:v>115-124</c:v>
                  </c:pt>
                  <c:pt idx="12">
                    <c:v>125-134</c:v>
                  </c:pt>
                  <c:pt idx="13">
                    <c:v>135+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19.87</c:v>
                </c:pt>
                <c:pt idx="1">
                  <c:v>20.62</c:v>
                </c:pt>
                <c:pt idx="2">
                  <c:v>20.34</c:v>
                </c:pt>
                <c:pt idx="3">
                  <c:v>18.7</c:v>
                </c:pt>
                <c:pt idx="4">
                  <c:v>20.2</c:v>
                </c:pt>
                <c:pt idx="5">
                  <c:v>20.14</c:v>
                </c:pt>
                <c:pt idx="6">
                  <c:v>19.53</c:v>
                </c:pt>
                <c:pt idx="7">
                  <c:v>19.82</c:v>
                </c:pt>
                <c:pt idx="8">
                  <c:v>18.91</c:v>
                </c:pt>
                <c:pt idx="9">
                  <c:v>20.52</c:v>
                </c:pt>
                <c:pt idx="10">
                  <c:v>20.35</c:v>
                </c:pt>
                <c:pt idx="11">
                  <c:v>19.35</c:v>
                </c:pt>
                <c:pt idx="12">
                  <c:v>20.07</c:v>
                </c:pt>
                <c:pt idx="13">
                  <c:v>20.31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Latency Bucket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17"/>
        </c:scaling>
        <c:delete val="0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Failure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33B"/>
                </a:solidFill>
                <a:latin typeface="Calibri"/>
              </a:rPr>
              <a:t>Failure Rate by Slice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Slice 1</c:v>
                  </c:pt>
                  <c:pt idx="1">
                    <c:v>Slice 2</c:v>
                  </c:pt>
                  <c:pt idx="2">
                    <c:v>Slice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20.12</c:v>
                </c:pt>
                <c:pt idx="1">
                  <c:v>19.77</c:v>
                </c:pt>
                <c:pt idx="2">
                  <c:v>19.88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1FB8A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Desktop</c:v>
                  </c:pt>
                  <c:pt idx="1">
                    <c:v>Mobile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80.03</c:v>
                </c:pt>
                <c:pt idx="1">
                  <c:v>80.13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Rate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Desktop</c:v>
                  </c:pt>
                  <c:pt idx="1">
                    <c:v>Mobile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19.97</c:v>
                </c:pt>
                <c:pt idx="1">
                  <c:v>19.87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3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3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828800"/>
            <a:ext cx="5943600" cy="59436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4" name="Shape 2"/>
          <p:cNvSpPr/>
          <p:nvPr/>
        </p:nvSpPr>
        <p:spPr>
          <a:xfrm>
            <a:off x="11475720" y="5074920"/>
            <a:ext cx="1554480" cy="1554480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PERFORMANCE ANALYTICS  •  EXECUTIVE BRIEFING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Performance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Analytics Dashboard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transactions are breaking down — and what it will take to fix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4892040"/>
            <a:ext cx="2926080" cy="0"/>
          </a:xfrm>
          <a:prstGeom prst="line">
            <a:avLst/>
          </a:prstGeom>
          <a:noFill/>
          <a:ln w="12700">
            <a:solidFill>
              <a:srgbClr val="2C4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5074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Ogaba Faina Ogenyi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Management Needs Answered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74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Are Failing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share of banking transactions are failing, creating potential customer dissatisfaction and operational concern.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74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476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Network?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060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failures linked to network latency, transaction type, or network-slice performance?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74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41655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Fraud Actually Being Stopped?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Department needs to know whether transactions flagged as fraudulent are actually being prevented from completing.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43484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434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7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674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41655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5G Slicing Paying Off?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0749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5G network-slicing investment delivering measurable transaction-performance benefit?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629400"/>
            <a:ext cx="11064240" cy="0"/>
          </a:xfrm>
          <a:prstGeom prst="roundRect">
            <a:avLst/>
          </a:prstGeom>
          <a:solidFill>
            <a:srgbClr val="E8EE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42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7393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overall transaction success and failure rates.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280160" y="2395728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4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9689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in transaction failures across latency, transaction type, and network slices.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280160" y="3218688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74720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42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1985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Fraud Flag vs. Transaction Status to determine whether flagged transactions are still succeeding.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280160" y="4041648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297680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97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42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4281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network-slice performance using average latency and average bandwidth.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280160" y="4864608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120640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120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42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6577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Desktop and Mobile transaction performance to support application-development decisions.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rows across 12 core fields, cleaned and structured for pivot-based analysis.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37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COLUMNS USED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08483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08483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78040" y="208483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208483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0" y="208483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0" y="208483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615184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261518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2615184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261518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0" y="2615184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0" y="2615184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4553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3145536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Slice 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314553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3145536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0" y="314553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3145536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Bandwidth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675888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367588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3675888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78040" y="367588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Account ID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0" y="3675888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0" y="367588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Account ID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4343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4690872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cleaned the transaction-level data.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transaction status categories: Success and Failed.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Latency Bucket categories to analyze failure rates across latency ranges.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PivotTables and calculated rates to support dashboard analysis.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dashboard analyses to interactive slicers for filtering.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TRANSACTION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(KPIs)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5148" y="17373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32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5148" y="196596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95148" y="33375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5628" y="17373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35628" y="196596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80.08%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335628" y="33375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Success 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76108" y="17373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32A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76108" y="196596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19.92%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176108" y="33375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Failure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5148" y="457200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1B3A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0908" y="4572000"/>
            <a:ext cx="10469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takeaway: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1 in every 5 transactions failed, making transaction reliability a significant area requiring management attention.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 Not Concentrated in One Transaction Type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37360"/>
            <a:ext cx="4434840" cy="4160520"/>
          </a:xfrm>
          <a:prstGeom prst="roundRect">
            <a:avLst>
              <a:gd name="adj" fmla="val 1758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98080" y="1965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Rates by Type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19.96%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19.85%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3520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19.96%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8080" y="4069080"/>
            <a:ext cx="37947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25196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Transfer, and Withdrawal fail at nearly identical rates (~19.9%) — the problem is systemic, not tied to one activity.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Rate Across the Latency Spectrum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rates move within a narrow band (~18.7%–20.6%) across every latency bucket from 5ms to 135+ms — evidence to investigate alongside banking-system processes, not proof of a single network cause.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Network-Slice Performance &amp; Failure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309360" cy="2377440"/>
        </p:xfrm>
        <a:graphic>
          <a:graphicData uri="http://schemas.openxmlformats.org/drawingml/2006/table">
            <a:tbl>
              <a:tblPr/>
              <a:tblGrid>
                <a:gridCol w="1577340"/>
                <a:gridCol w="1577340"/>
                <a:gridCol w="1577340"/>
                <a:gridCol w="15773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Bandwidth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1,526.47 Mbps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1,525.41 Mbps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1,531.87 Mbps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3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1,527.91 Mbps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bandwidth are nearly identical across all three slices, so the 5G-slicing investment is not creating a performance gap between slices.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178040" y="1737360"/>
          <a:ext cx="4434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5029200" cy="5029200"/>
          </a:xfrm>
          <a:prstGeom prst="ellipse">
            <a:avLst/>
          </a:prstGeom>
          <a:solidFill>
            <a:srgbClr val="3A16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 CONTROLS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 Transactions Are Still Getting 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75208" y="1828800"/>
            <a:ext cx="4892040" cy="2651760"/>
          </a:xfrm>
          <a:prstGeom prst="roundRect">
            <a:avLst>
              <a:gd name="adj" fmla="val 2759"/>
            </a:avLst>
          </a:prstGeom>
          <a:solidFill>
            <a:srgbClr val="132A4C"/>
          </a:solidFill>
          <a:ln w="19050">
            <a:solidFill>
              <a:srgbClr val="1F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5208" y="20574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80.05%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249528" y="32461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— NOT flagged as fraud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5208" y="3840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19.95% failed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828800"/>
            <a:ext cx="4892040" cy="2651760"/>
          </a:xfrm>
          <a:prstGeom prst="roundRect">
            <a:avLst>
              <a:gd name="adj" fmla="val 2759"/>
            </a:avLst>
          </a:prstGeom>
          <a:solidFill>
            <a:srgbClr val="132A4C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448" y="20574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80.55%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32461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— FLAGGED as fraud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3840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19.45% failed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5208" y="470916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3A162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40968" y="4709160"/>
            <a:ext cx="9509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flagged as potentially fraudulent succeed at a slightly HIGHER rate than those that were not flagged. This raises a direct question for the Risk Department: are fraud alerts actually converting into real-time preventive action?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vs. Mobile: No Material Performance Gap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389120" cy="4160520"/>
          </a:xfrm>
          <a:prstGeom prst="roundRect">
            <a:avLst>
              <a:gd name="adj" fmla="val 1758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980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80.03% / 19.97%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80.13% / 19.87%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0" y="3657600"/>
            <a:ext cx="37947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388620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records a slightly higher success rate; Desktop a slightly higher failure rate — but the gap is negligible. Application-development priorities should be set on broader business and technical factors, not device performance alone.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AREAS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32A4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267712"/>
            <a:ext cx="237744" cy="237744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031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32A4C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953512"/>
            <a:ext cx="237744" cy="237744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27889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32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639312"/>
            <a:ext cx="237744" cy="237744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747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32A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325112"/>
            <a:ext cx="237744" cy="237744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1605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32A4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5010912"/>
            <a:ext cx="237744" cy="237744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48463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B3A63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1031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278892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B3A63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27889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Slice ID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3474720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1B3A63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47472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29768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132A4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846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management to interactively filter the analysis and investigate transaction performance across different operational and network dimensions.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52244"/>
            <a:ext cx="438912" cy="438912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522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96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processed 40,000 transactions, with an overall 80.08% success rate and 19.92% failure rate.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848356"/>
            <a:ext cx="438912" cy="438912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483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96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7919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rates are relatively consistent across Deposit, Transfer, and Withdrawal — failures are not concentrated in one transaction type.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8EE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744468"/>
            <a:ext cx="438912" cy="438912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7444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96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57530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rates vary across latency ranges, providing evidence to investigate the relationship between network delay and transaction reliability.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640580"/>
            <a:ext cx="438912" cy="438912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405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96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47141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Network-slice failure rates, latency, and bandwidth all show limited variation across the three slices.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8EE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536692"/>
            <a:ext cx="438912" cy="438912"/>
          </a:xfrm>
          <a:prstGeom prst="ellipse">
            <a:avLst/>
          </a:prstGeom>
          <a:solidFill>
            <a:srgbClr val="1FB8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5366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96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67528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and Mobile performance is broadly similar, while the Fraud Flag analysis shows a need to monitor whether flagged transactions are truly being prevented.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&amp; Network Performance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failures across latency ranges to spot elevated-risk conditions.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network-related failures alongside banking-system processes before attributing them solely to connectivity.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failure rates by transaction type and network slice.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20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Controls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14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transactions flagged as potentially fraudulent that still succeeded.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fraud alerts convert into real-time preventive controls.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monitor Fraud Flag vs. Transaction Status.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159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Slicing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slices using both latency and bandwidth, not a single metric.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slice performance against intended service objectives.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transaction outcomes alongside network metrics when assessing slicing ROI.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3159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Development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8920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comparing Desktop and Mobile transaction performance.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actual performance evidence to guide development priorities.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✦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prioritizing resources on transaction volume alone.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View of Where Performance Breaks Down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9659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gives management a clear view of transaction reliability, network performance, fraud outcomes, and device performance. It shows transaction failures are a significant operational issue, while failure patterns across transaction types, network slices, and devices remain relatively similar — and it provides a framework for investigating whether network conditions and fraud-control effectiveness are contributing to the outcomes observed.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3749040"/>
            <a:ext cx="10698480" cy="1600200"/>
          </a:xfrm>
          <a:prstGeom prst="roundRect">
            <a:avLst>
              <a:gd name="adj" fmla="val 4571"/>
            </a:avLst>
          </a:prstGeom>
          <a:solidFill>
            <a:srgbClr val="1B3A63"/>
          </a:solidFill>
          <a:ln w="12700">
            <a:solidFill>
              <a:srgbClr val="1F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MESSAGE TO THE BOARD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79392"/>
            <a:ext cx="10104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“With this dashboard, management can now see where transaction performance is breaking down, assess the role of network and fraud factors, and make evidence-based decisions on operational, security, network, and application priorities.”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Performance &amp; Risk Analytics Dashboard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2026-09-15T20:29:27Z</dcterms:created>
  <dcterms:modified xsi:type="dcterms:W3CDTF">2026-09-15T20:29:27Z</dcterms:modified>
</cp:coreProperties>
</file>